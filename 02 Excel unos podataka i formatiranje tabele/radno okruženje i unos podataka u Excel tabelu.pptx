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6AC3D166-EECB-471E-B99E-A76EEAD456C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2EFAD9E4-F836-4638-8882-F3CFDE52BFC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 smtClean="0"/>
              <a:t>Radno okruženje programa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Microsoft excel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038600"/>
            <a:ext cx="2981325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3956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2000" y="2020824"/>
            <a:ext cx="7924800" cy="40751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Radno okruženje programa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40052"/>
            <a:ext cx="8763000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Left Arrow 5"/>
          <p:cNvSpPr/>
          <p:nvPr/>
        </p:nvSpPr>
        <p:spPr>
          <a:xfrm>
            <a:off x="7086600" y="2438400"/>
            <a:ext cx="3810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>
            <a:off x="3276600" y="1905000"/>
            <a:ext cx="3810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2057400" y="6172200"/>
            <a:ext cx="3810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814187" y="1801586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b="1" dirty="0" smtClean="0">
                <a:solidFill>
                  <a:schemeClr val="bg1"/>
                </a:solidFill>
              </a:rPr>
              <a:t>Linija sa menijima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67601" y="2368034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smtClean="0">
                <a:solidFill>
                  <a:schemeClr val="bg1"/>
                </a:solidFill>
              </a:rPr>
              <a:t>Traka sa alatima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51555" y="6031468"/>
            <a:ext cx="141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b="1" dirty="0" smtClean="0">
                <a:solidFill>
                  <a:schemeClr val="bg1"/>
                </a:solidFill>
              </a:rPr>
              <a:t>Radni listovi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3581400"/>
            <a:ext cx="57150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>
                <a:solidFill>
                  <a:schemeClr val="bg1"/>
                </a:solidFill>
              </a:rPr>
              <a:t>Radni list programa Excel je jedna velika tabela.</a:t>
            </a:r>
          </a:p>
          <a:p>
            <a:r>
              <a:rPr lang="sr-Latn-RS" dirty="0" smtClean="0">
                <a:solidFill>
                  <a:schemeClr val="bg1"/>
                </a:solidFill>
              </a:rPr>
              <a:t>Svako polje tabele je određeno jedinstvenom adresom.</a:t>
            </a:r>
          </a:p>
          <a:p>
            <a:r>
              <a:rPr lang="sr-Latn-RS" dirty="0" smtClean="0">
                <a:solidFill>
                  <a:schemeClr val="bg1"/>
                </a:solidFill>
              </a:rPr>
              <a:t>Na primer, A12-A je oznaka kolone u kojoj se polje nalazi, a 12 je oznaka reda.</a:t>
            </a:r>
          </a:p>
          <a:p>
            <a:r>
              <a:rPr lang="sr-Latn-RS" dirty="0" smtClean="0">
                <a:solidFill>
                  <a:schemeClr val="bg1"/>
                </a:solidFill>
              </a:rPr>
              <a:t>Jedan radni list ima 16256 kolona i 1048576 redova (do poslednjeg reda se može doći kada se istovremeno pritisnu taster Ctrl i strelica na dole na tastaturi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98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sr-Latn-RS" dirty="0" smtClean="0"/>
              <a:t>U radni list Excel knjige uneti sledeće podatke počev od polja A1.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Unos podataka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92" y="2514600"/>
            <a:ext cx="8067675" cy="317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1036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Važno pravilo pri unosu podataka u Excel tabelu:</a:t>
            </a:r>
          </a:p>
          <a:p>
            <a:r>
              <a:rPr lang="sr-Latn-RS" sz="3200" b="1" dirty="0" smtClean="0"/>
              <a:t>Tekst je uvek sa desne strane polja, a broj sa leve strane polja</a:t>
            </a:r>
          </a:p>
          <a:p>
            <a:r>
              <a:rPr lang="sr-Latn-RS" sz="1800" b="1" dirty="0" smtClean="0"/>
              <a:t>Pri unosu podataka u tabelu, važno je zapamtiti ovo pravilo, jer ono što mi vidimo kao broj Excel može da svrsta u tekst, ili obrnuto.</a:t>
            </a:r>
          </a:p>
          <a:p>
            <a:r>
              <a:rPr lang="sr-Latn-RS" sz="1800" b="1" dirty="0" smtClean="0"/>
              <a:t>S obzirom da je veoma važno za bilo koje izračunavanje da budemo sigurni koji tip podataka koristimo, ovo pravilo je veoma, veoma bitno!</a:t>
            </a:r>
          </a:p>
          <a:p>
            <a:r>
              <a:rPr lang="sr-Latn-RS" sz="1800" b="1" dirty="0" smtClean="0"/>
              <a:t>Na primer, u engleskom regionalnom formatu, decimalni brojevi se pišu sa decimalnom tačkom, a u srpskom regionalnom podešavanju sa zarezom. Dovoljno je da imate drugačije regionalno podešavanje na drugom računaru i Excel neće prepoznati da je u pitanju decimalni broj, pa će se pojaviti greška u računanju.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Tipovi podataka i regionalni format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01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28</TotalTime>
  <Words>231</Words>
  <Application>Microsoft Office PowerPoint</Application>
  <PresentationFormat>On-screen Show (4:3)</PresentationFormat>
  <Paragraphs>18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BlackTie</vt:lpstr>
      <vt:lpstr>Microsoft excel</vt:lpstr>
      <vt:lpstr>Radno okruženje programa</vt:lpstr>
      <vt:lpstr>Unos podataka</vt:lpstr>
      <vt:lpstr>Tipovi podataka i regionalni format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excel</dc:title>
  <dc:creator>Informatika</dc:creator>
  <cp:lastModifiedBy>Informatika</cp:lastModifiedBy>
  <cp:revision>3</cp:revision>
  <dcterms:created xsi:type="dcterms:W3CDTF">2025-09-07T14:54:04Z</dcterms:created>
  <dcterms:modified xsi:type="dcterms:W3CDTF">2025-09-07T15:22:47Z</dcterms:modified>
</cp:coreProperties>
</file>