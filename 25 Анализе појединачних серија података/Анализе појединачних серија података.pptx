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7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3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67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66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7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2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19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0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743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3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74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8E0DF9-1681-C08C-1A5E-A5D99EB42F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35" b="1591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65C31-7130-F4F3-3E42-925709048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75146"/>
            <a:ext cx="10024111" cy="2499473"/>
          </a:xfrm>
        </p:spPr>
        <p:txBody>
          <a:bodyPr anchor="ctr">
            <a:normAutofit/>
          </a:bodyPr>
          <a:lstStyle/>
          <a:p>
            <a:r>
              <a:rPr lang="sr-Cyrl-RS" b="1" dirty="0"/>
              <a:t>Анализе појединачних серија података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1523C-375A-987C-33FE-4AF9AE843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426" y="196597"/>
            <a:ext cx="3634494" cy="868139"/>
          </a:xfrm>
        </p:spPr>
        <p:txBody>
          <a:bodyPr anchor="ctr">
            <a:normAutofit/>
          </a:bodyPr>
          <a:lstStyle/>
          <a:p>
            <a:pPr algn="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05891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0400-EFCC-C656-881F-C14106DE6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сложене структуре података у </a:t>
            </a:r>
            <a:r>
              <a:rPr lang="en-US" dirty="0"/>
              <a:t>python</a:t>
            </a:r>
            <a:r>
              <a:rPr lang="sr-Cyrl-RS" dirty="0"/>
              <a:t>-у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46640-7F43-AE18-CB22-23A95DD27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Cyrl-RS" dirty="0"/>
              <a:t>Основне структуре података у </a:t>
            </a:r>
            <a:r>
              <a:rPr lang="en-US" dirty="0"/>
              <a:t>python</a:t>
            </a:r>
            <a:r>
              <a:rPr lang="sr-Cyrl-RS" dirty="0"/>
              <a:t>-у су:</a:t>
            </a:r>
          </a:p>
          <a:p>
            <a:pPr lvl="1"/>
            <a:r>
              <a:rPr lang="sr-Cyrl-RS" dirty="0"/>
              <a:t>Листе – елементи се наводе унутар угластих заграда</a:t>
            </a:r>
          </a:p>
          <a:p>
            <a:pPr lvl="2"/>
            <a:r>
              <a:rPr lang="en-US" dirty="0"/>
              <a:t>Lista = [element1,element2,element3…]</a:t>
            </a:r>
          </a:p>
          <a:p>
            <a:pPr lvl="2"/>
            <a:r>
              <a:rPr lang="en-US" dirty="0" err="1"/>
              <a:t>Ocene</a:t>
            </a:r>
            <a:r>
              <a:rPr lang="en-US" dirty="0"/>
              <a:t> = [2,4,4,5,5,5,5,5,4]</a:t>
            </a:r>
          </a:p>
          <a:p>
            <a:pPr lvl="1"/>
            <a:r>
              <a:rPr lang="sr-Cyrl-RS" dirty="0" err="1"/>
              <a:t>Торке</a:t>
            </a:r>
            <a:r>
              <a:rPr lang="sr-Cyrl-RS" dirty="0"/>
              <a:t> – елементи се наводе унутар обичних заграда</a:t>
            </a:r>
            <a:endParaRPr lang="en-US" dirty="0"/>
          </a:p>
          <a:p>
            <a:pPr lvl="2"/>
            <a:r>
              <a:rPr lang="en-US" dirty="0" err="1"/>
              <a:t>Torka</a:t>
            </a:r>
            <a:r>
              <a:rPr lang="en-US" dirty="0"/>
              <a:t> = (element1,element2,….,</a:t>
            </a:r>
            <a:r>
              <a:rPr lang="en-US" dirty="0" err="1"/>
              <a:t>elementn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Bela = (255,255,255)</a:t>
            </a:r>
            <a:endParaRPr lang="sr-Cyrl-RS" dirty="0"/>
          </a:p>
          <a:p>
            <a:pPr lvl="1"/>
            <a:r>
              <a:rPr lang="sr-Cyrl-RS" dirty="0"/>
              <a:t>Скупови – елементи се не понављају и наводе се унутар витичастих заграда</a:t>
            </a:r>
            <a:endParaRPr lang="en-US" dirty="0"/>
          </a:p>
          <a:p>
            <a:pPr lvl="2"/>
            <a:r>
              <a:rPr lang="en-US" dirty="0" err="1"/>
              <a:t>Skup</a:t>
            </a:r>
            <a:r>
              <a:rPr lang="en-US" dirty="0"/>
              <a:t> = {element1,element2,….,</a:t>
            </a:r>
            <a:r>
              <a:rPr lang="en-US" dirty="0" err="1"/>
              <a:t>elementn</a:t>
            </a:r>
            <a:r>
              <a:rPr lang="en-US" dirty="0"/>
              <a:t>}</a:t>
            </a:r>
          </a:p>
          <a:p>
            <a:pPr lvl="2"/>
            <a:r>
              <a:rPr lang="en-US" dirty="0" err="1"/>
              <a:t>Skup</a:t>
            </a:r>
            <a:r>
              <a:rPr lang="en-US" dirty="0"/>
              <a:t> = {1,2,3,4,5}</a:t>
            </a:r>
            <a:endParaRPr lang="sr-Cyrl-RS" dirty="0"/>
          </a:p>
          <a:p>
            <a:pPr lvl="1"/>
            <a:r>
              <a:rPr lang="sr-Cyrl-RS" dirty="0"/>
              <a:t>Речници – елементи се састоје од кључа и вредности, наводе се унутар витичастих заграда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448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C390B-CD3F-F247-44EA-8A2DF8EC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Cyrl-RS" dirty="0"/>
              <a:t>Креирање различитих типова листе у </a:t>
            </a:r>
            <a:r>
              <a:rPr lang="sr-Cyrl-RS" dirty="0" err="1"/>
              <a:t>јупитеру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6DC4F-9098-B56F-0617-671C2CBF6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844928"/>
            <a:ext cx="10691265" cy="4098671"/>
          </a:xfrm>
        </p:spPr>
        <p:txBody>
          <a:bodyPr>
            <a:normAutofit/>
          </a:bodyPr>
          <a:lstStyle/>
          <a:p>
            <a:endParaRPr lang="sr-Cyrl-RS" dirty="0"/>
          </a:p>
          <a:p>
            <a:endParaRPr lang="sr-Cyrl-RS" dirty="0"/>
          </a:p>
          <a:p>
            <a:endParaRPr lang="sr-Cyrl-RS" dirty="0"/>
          </a:p>
          <a:p>
            <a:endParaRPr lang="sr-Cyrl-RS" dirty="0"/>
          </a:p>
          <a:p>
            <a:endParaRPr lang="sr-Cyrl-RS" dirty="0"/>
          </a:p>
          <a:p>
            <a:endParaRPr lang="en-US" dirty="0"/>
          </a:p>
          <a:p>
            <a:r>
              <a:rPr lang="sr-Cyrl-RS" dirty="0"/>
              <a:t>Садржај листе се може приказати на два начина:</a:t>
            </a:r>
          </a:p>
          <a:p>
            <a:pPr lvl="1"/>
            <a:r>
              <a:rPr lang="en-US" dirty="0"/>
              <a:t>Print(</a:t>
            </a:r>
            <a:r>
              <a:rPr lang="en-US" dirty="0" err="1"/>
              <a:t>ElektroKomponente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ElektroKomponente</a:t>
            </a:r>
            <a:r>
              <a:rPr lang="en-US" dirty="0"/>
              <a:t> – </a:t>
            </a:r>
            <a:r>
              <a:rPr lang="sr-Cyrl-RS" dirty="0"/>
              <a:t>означи се линија и одабере мени </a:t>
            </a:r>
            <a:r>
              <a:rPr lang="en-US" dirty="0" err="1"/>
              <a:t>Run</a:t>
            </a:r>
            <a:r>
              <a:rPr lang="en-US" dirty="0" err="1">
                <a:sym typeface="Wingdings" panose="05000000000000000000" pitchFamily="2" charset="2"/>
              </a:rPr>
              <a:t>Run</a:t>
            </a:r>
            <a:r>
              <a:rPr lang="en-US" dirty="0">
                <a:sym typeface="Wingdings" panose="05000000000000000000" pitchFamily="2" charset="2"/>
              </a:rPr>
              <a:t> selected Cell (</a:t>
            </a:r>
            <a:r>
              <a:rPr lang="en-US" dirty="0" err="1">
                <a:sym typeface="Wingdings" panose="05000000000000000000" pitchFamily="2" charset="2"/>
              </a:rPr>
              <a:t>Shift+Enter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lang="en-US" dirty="0"/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04FCFFFD-5CC0-1EA3-8738-3F834F6DE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685" y="2111120"/>
            <a:ext cx="10291215" cy="2239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9593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3766B-897C-25D8-8DB1-A5BAF4E05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Cyrl-RS" dirty="0"/>
              <a:t>Примена функција за одређивање минимума, максимума, просека, збира и одређивање броја елемената листе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A47B9-6D19-0B9B-96D6-D2F9872A1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766061"/>
            <a:ext cx="10691265" cy="3739896"/>
          </a:xfrm>
        </p:spPr>
        <p:txBody>
          <a:bodyPr/>
          <a:lstStyle/>
          <a:p>
            <a:r>
              <a:rPr lang="sr-Cyrl-RS" dirty="0"/>
              <a:t>Код се покреће на менију </a:t>
            </a:r>
            <a:r>
              <a:rPr lang="en-US" dirty="0" err="1"/>
              <a:t>Run</a:t>
            </a:r>
            <a:r>
              <a:rPr lang="en-US" dirty="0" err="1">
                <a:sym typeface="Wingdings" panose="05000000000000000000" pitchFamily="2" charset="2"/>
              </a:rPr>
              <a:t>Run</a:t>
            </a:r>
            <a:r>
              <a:rPr lang="en-US" dirty="0">
                <a:sym typeface="Wingdings" panose="05000000000000000000" pitchFamily="2" charset="2"/>
              </a:rPr>
              <a:t> All Cells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0C9E0-F652-E007-A982-24F0271A6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92" y="3159335"/>
            <a:ext cx="11398836" cy="334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94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186DD-1164-15EE-4DBC-41EDDFCF4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Cyrl-RS" dirty="0"/>
              <a:t>Сортирање листе у опадајућем редоследу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4A63C-8978-D8BC-0CB3-62925B37B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59052"/>
            <a:ext cx="10691265" cy="3739896"/>
          </a:xfrm>
        </p:spPr>
        <p:txBody>
          <a:bodyPr/>
          <a:lstStyle/>
          <a:p>
            <a:r>
              <a:rPr lang="sr-Cyrl-RS" dirty="0"/>
              <a:t>Ако је потребно сортирати листу у опадајућем редоследу, након назива листе, позива се функција </a:t>
            </a:r>
            <a:r>
              <a:rPr lang="en-US" dirty="0"/>
              <a:t>sort(reverse = true), </a:t>
            </a:r>
            <a:r>
              <a:rPr lang="sr-Cyrl-RS" dirty="0"/>
              <a:t>што указује на опадајући редослед сортирања.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E1E8C-6AC8-4FDD-93DD-9F7ACBACC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49" y="2359152"/>
            <a:ext cx="11373435" cy="41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566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58DD-53F5-DEB2-195F-98AC2EE67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Funkcija</a:t>
            </a:r>
            <a:r>
              <a:rPr lang="en-US" dirty="0"/>
              <a:t> count()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8AC57-B887-4C2E-DF87-261E5D4FC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Скупови у </a:t>
            </a:r>
            <a:r>
              <a:rPr lang="en-US" dirty="0"/>
              <a:t>Python/u</a:t>
            </a:r>
            <a:r>
              <a:rPr lang="sr-Cyrl-RS" dirty="0"/>
              <a:t> не могу садржати дупликате, али листе и </a:t>
            </a:r>
            <a:r>
              <a:rPr lang="sr-Cyrl-RS" dirty="0" err="1"/>
              <a:t>торке</a:t>
            </a:r>
            <a:r>
              <a:rPr lang="sr-Cyrl-RS" dirty="0"/>
              <a:t> могу. Да би одредили број понављања одређеног податка у листи, користићемо функцију </a:t>
            </a:r>
            <a:r>
              <a:rPr lang="en-US" dirty="0"/>
              <a:t>count(). </a:t>
            </a:r>
          </a:p>
          <a:p>
            <a:r>
              <a:rPr lang="sr-Cyrl-RS" dirty="0"/>
              <a:t>Пример: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80EAEA-3F7F-F643-BC7C-72869BD72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3" y="3811880"/>
            <a:ext cx="11360734" cy="9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9784C-78D9-2114-D7D2-08C3D273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Пример за вежбу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4EFE4-F259-0DFC-2E48-B5475FB19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sz="2800" b="1" dirty="0"/>
              <a:t>У новој свесци направити листу </a:t>
            </a:r>
            <a:r>
              <a:rPr lang="sr-Cyrl-RS" sz="2800" b="1" i="1" dirty="0" err="1"/>
              <a:t>AmperažaOsigurača</a:t>
            </a:r>
            <a:r>
              <a:rPr lang="sr-Cyrl-RS" sz="2800" b="1" i="1" dirty="0"/>
              <a:t>. </a:t>
            </a:r>
            <a:r>
              <a:rPr lang="sr-Cyrl-RS" sz="2800" b="1" dirty="0"/>
              <a:t>Користећи функцију </a:t>
            </a:r>
            <a:r>
              <a:rPr lang="en-US" sz="2800" b="1" dirty="0"/>
              <a:t>round() </a:t>
            </a:r>
            <a:r>
              <a:rPr lang="sr-Cyrl-RS" sz="2800" b="1" dirty="0"/>
              <a:t>и наредбу </a:t>
            </a:r>
            <a:r>
              <a:rPr lang="en-US" sz="2800" b="1" dirty="0"/>
              <a:t>print()</a:t>
            </a:r>
            <a:r>
              <a:rPr lang="sr-Cyrl-RS" sz="2800" b="1" dirty="0"/>
              <a:t> испиши вредност променљиве </a:t>
            </a:r>
            <a:r>
              <a:rPr lang="en-US" sz="2800" b="1" dirty="0"/>
              <a:t>Prosek </a:t>
            </a:r>
            <a:r>
              <a:rPr lang="sr-Cyrl-RS" sz="2800" b="1" dirty="0"/>
              <a:t>заокружену на две децимале. </a:t>
            </a:r>
            <a:endParaRPr lang="en-US" sz="2800" b="1" dirty="0"/>
          </a:p>
          <a:p>
            <a:r>
              <a:rPr lang="sr-Cyrl-RS" dirty="0"/>
              <a:t>Функција </a:t>
            </a:r>
            <a:r>
              <a:rPr lang="en-US" dirty="0"/>
              <a:t>round() </a:t>
            </a:r>
            <a:r>
              <a:rPr lang="sr-Cyrl-RS" dirty="0"/>
              <a:t>има два аргумента, први је вредност која се заокружује, а други је број децимала. Ако се други аргумент изостави, реалан број ће бити заокружен на најближи цео број.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339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49AC5-2AE9-6D8E-057E-FB244E086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Једнодимензионална серија података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526B4-3F2A-4D37-9E2A-4232EFF44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На листе се могу применити бројне функције, али оне нису погодне за статистичке анализе. Од листа је много погоднија структура података која се зове </a:t>
            </a:r>
            <a:r>
              <a:rPr lang="sr-Cyrl-RS" b="1" dirty="0"/>
              <a:t>једнодимензионална серија података. </a:t>
            </a:r>
            <a:r>
              <a:rPr lang="sr-Cyrl-RS" dirty="0"/>
              <a:t>Она је део програмске библиотеке </a:t>
            </a:r>
            <a:r>
              <a:rPr lang="en-US" b="1" dirty="0"/>
              <a:t>pandas.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9542B5-181B-E60E-4B11-132E99805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985" y="3318640"/>
            <a:ext cx="8919706" cy="316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197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DB306-7891-DE20-0EAE-408ECF991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88670"/>
          </a:xfrm>
        </p:spPr>
        <p:txBody>
          <a:bodyPr/>
          <a:lstStyle/>
          <a:p>
            <a:r>
              <a:rPr lang="sr-Cyrl-RS" dirty="0"/>
              <a:t>Статистичка анализа података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5215D-4C64-139F-F82D-9106181D6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03070"/>
            <a:ext cx="10691265" cy="4258818"/>
          </a:xfrm>
        </p:spPr>
        <p:txBody>
          <a:bodyPr/>
          <a:lstStyle/>
          <a:p>
            <a:r>
              <a:rPr lang="sr-Cyrl-RS" dirty="0"/>
              <a:t>У </a:t>
            </a:r>
            <a:r>
              <a:rPr lang="sr-Cyrl-RS" dirty="0" err="1"/>
              <a:t>екселу</a:t>
            </a:r>
            <a:r>
              <a:rPr lang="sr-Cyrl-RS" dirty="0"/>
              <a:t> смо за статистичку анализу користили функције </a:t>
            </a:r>
            <a:r>
              <a:rPr lang="sr-Cyrl-RS" i="1" dirty="0" err="1"/>
              <a:t>min</a:t>
            </a:r>
            <a:r>
              <a:rPr lang="sr-Cyrl-RS" dirty="0"/>
              <a:t>, </a:t>
            </a:r>
            <a:r>
              <a:rPr lang="sr-Cyrl-RS" i="1" dirty="0" err="1"/>
              <a:t>max</a:t>
            </a:r>
            <a:r>
              <a:rPr lang="sr-Cyrl-RS" dirty="0"/>
              <a:t>, </a:t>
            </a:r>
            <a:r>
              <a:rPr lang="sr-Cyrl-RS" i="1" dirty="0" err="1"/>
              <a:t>average</a:t>
            </a:r>
            <a:r>
              <a:rPr lang="sr-Cyrl-RS" dirty="0"/>
              <a:t>, </a:t>
            </a:r>
            <a:r>
              <a:rPr lang="sr-Cyrl-RS" i="1" dirty="0" err="1"/>
              <a:t>sum</a:t>
            </a:r>
            <a:r>
              <a:rPr lang="sr-Cyrl-RS" dirty="0"/>
              <a:t>, </a:t>
            </a:r>
            <a:r>
              <a:rPr lang="sr-Cyrl-RS" i="1" dirty="0" err="1"/>
              <a:t>count</a:t>
            </a:r>
            <a:r>
              <a:rPr lang="sr-Cyrl-RS" i="1" dirty="0"/>
              <a:t>.</a:t>
            </a:r>
          </a:p>
          <a:p>
            <a:endParaRPr lang="sr-Cyrl-RS" i="1" dirty="0"/>
          </a:p>
          <a:p>
            <a:endParaRPr lang="sr-Cyrl-RS" i="1" dirty="0"/>
          </a:p>
          <a:p>
            <a:endParaRPr lang="sr-Cyrl-RS" i="1" dirty="0"/>
          </a:p>
          <a:p>
            <a:endParaRPr lang="sr-Cyrl-RS" i="1" dirty="0"/>
          </a:p>
          <a:p>
            <a:pPr marL="0" indent="0">
              <a:buNone/>
            </a:pPr>
            <a:endParaRPr lang="sr-Cyrl-RS" dirty="0"/>
          </a:p>
          <a:p>
            <a:endParaRPr lang="sr-Cyrl-RS" dirty="0"/>
          </a:p>
          <a:p>
            <a:endParaRPr lang="sr-Cyrl-RS" dirty="0"/>
          </a:p>
          <a:p>
            <a:r>
              <a:rPr lang="sr-Cyrl-RS" b="1" dirty="0"/>
              <a:t>У </a:t>
            </a:r>
            <a:r>
              <a:rPr lang="sr-Cyrl-RS" b="1" dirty="0" err="1"/>
              <a:t>јупитеру</a:t>
            </a:r>
            <a:r>
              <a:rPr lang="sr-Cyrl-RS" b="1" dirty="0"/>
              <a:t> се разликује назив функције за средњу вредност.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43B1026-CA94-27C9-D868-186743735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043" y="2183431"/>
            <a:ext cx="7755605" cy="3298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6499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30254-7F84-6CC6-FF03-5EC2500FD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Пример: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84833-E48C-435C-7B7E-E1E234C03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Направити листу свих закључних оцена на крају првог полугодишта. Од ње направити серију података под називом Оцене. Помоћу основних статистичких функција одреди и прикажи најмању, највећу и просечну оцену. Просечну оцену заокружи на једну децималу. </a:t>
            </a:r>
            <a:endParaRPr lang="en-US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C2E0A85F-8343-4814-9FF5-B1B0CEAD44D6}"/>
              </a:ext>
            </a:extLst>
          </p:cNvPr>
          <p:cNvSpPr/>
          <p:nvPr/>
        </p:nvSpPr>
        <p:spPr>
          <a:xfrm>
            <a:off x="4549140" y="4091940"/>
            <a:ext cx="3646170" cy="110871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Решење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056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48C9-64B0-CD37-5C22-C49F9542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2ED3E3-62CB-047B-1ABB-2DBF8584A3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" y="468630"/>
            <a:ext cx="12031980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11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2F943-C180-50D3-9766-A01076AB9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Сортирање и филтрирање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03A42-EF4D-D0E8-E946-F88C930CE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474470"/>
            <a:ext cx="10691265" cy="4487418"/>
          </a:xfrm>
        </p:spPr>
        <p:txBody>
          <a:bodyPr/>
          <a:lstStyle/>
          <a:p>
            <a:r>
              <a:rPr lang="sr-Cyrl-RS" altLang="en-US" dirty="0"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Коришћењем функције </a:t>
            </a:r>
            <a:r>
              <a:rPr lang="sr-Cyrl-RS" altLang="en-US" b="1" i="1" dirty="0" err="1"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sort_values</a:t>
            </a:r>
            <a:r>
              <a:rPr lang="sr-Cyrl-RS" altLang="en-US" b="1" i="1" dirty="0"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lang="sr-Cyrl-RS" altLang="en-US" dirty="0"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сортира се серија података у растућем односно </a:t>
            </a:r>
            <a:r>
              <a:rPr lang="sr-Cyrl-RS" altLang="en-US" dirty="0" err="1"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неопадајућем</a:t>
            </a:r>
            <a:r>
              <a:rPr lang="sr-Cyrl-RS" altLang="en-US" dirty="0"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редоследу, а затим како да употребом параметра </a:t>
            </a:r>
            <a:r>
              <a:rPr lang="sr-Cyrl-RS" altLang="en-US" b="1" i="1" dirty="0" err="1"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ascending</a:t>
            </a:r>
            <a:r>
              <a:rPr lang="sr-Cyrl-RS" altLang="en-US" b="1" i="1" dirty="0"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r-Cyrl-RS" altLang="en-US" b="1" i="1" dirty="0">
                <a:solidFill>
                  <a:srgbClr val="7030A0"/>
                </a:solidFill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sr-Cyrl-RS" altLang="en-US" b="1" i="1" dirty="0"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r-Cyrl-RS" altLang="en-US" b="1" i="1" dirty="0" err="1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sr-Cyrl-RS" altLang="en-US" dirty="0"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добију серију података сортирану у опадајућем/</a:t>
            </a:r>
            <a:r>
              <a:rPr lang="sr-Cyrl-RS" altLang="en-US" dirty="0" err="1"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нерастућем</a:t>
            </a:r>
            <a:r>
              <a:rPr lang="sr-Cyrl-RS" altLang="en-US" dirty="0"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редоследу. </a:t>
            </a:r>
          </a:p>
          <a:p>
            <a:endParaRPr lang="sr-Cyrl-RS" altLang="en-US" dirty="0"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sr-Cyrl-RS" altLang="en-US" dirty="0"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sr-Cyrl-RS" altLang="en-US" dirty="0"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sr-Cyrl-RS" altLang="en-US" dirty="0"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sz="700" dirty="0">
              <a:latin typeface="Arial" panose="020B0604020202020204" pitchFamily="34" charset="0"/>
            </a:endParaRPr>
          </a:p>
          <a:p>
            <a:endParaRPr lang="en-US" altLang="en-US" sz="11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984D78F-DD46-B88B-CE61-39CB15E84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230" y="2642298"/>
            <a:ext cx="7839134" cy="330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BC90BE-E2A1-4FCE-BB47-61AB78AFD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363" y="2941251"/>
            <a:ext cx="27122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r-Cyrl-R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kumimoji="0" lang="sr-Cyrl-R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443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9F17-C15A-B9A5-825B-3F8490063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Филтрирање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79B4D-21FE-4DE1-6269-92331F477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Cyrl-RS" altLang="en-US" sz="2100" dirty="0">
                <a:latin typeface="Arial" panose="020B0604020202020204" pitchFamily="34" charset="0"/>
                <a:ea typeface="Calibri" panose="020F0502020204030204" pitchFamily="34" charset="0"/>
              </a:rPr>
              <a:t>Објашњава ученицима да је за филтрирање серије потребно задати критеријум (услов) у угластим заградама и показује како то изгледа на примеру.</a:t>
            </a:r>
          </a:p>
          <a:p>
            <a:endParaRPr lang="sr-Cyrl-RS" altLang="en-US" sz="3600" dirty="0"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sr-Cyrl-RS" altLang="en-US" sz="3600" dirty="0"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sr-Cyrl-RS" altLang="en-US" dirty="0">
                <a:latin typeface="Arial" panose="020B0604020202020204" pitchFamily="34" charset="0"/>
                <a:ea typeface="Calibri" panose="020F0502020204030204" pitchFamily="34" charset="0"/>
              </a:rPr>
              <a:t>Наглашава ученицима да је приликом филтрирања серије у угластим заградама иза имена серије потребно да откуцају </a:t>
            </a:r>
            <a:r>
              <a:rPr lang="sr-Cyrl-RS" altLang="en-US" b="1" dirty="0">
                <a:latin typeface="Arial" panose="020B0604020202020204" pitchFamily="34" charset="0"/>
                <a:ea typeface="Calibri" panose="020F0502020204030204" pitchFamily="34" charset="0"/>
              </a:rPr>
              <a:t>тачку</a:t>
            </a:r>
            <a:r>
              <a:rPr lang="sr-Cyrl-RS" altLang="en-US" dirty="0">
                <a:latin typeface="Arial" panose="020B0604020202020204" pitchFamily="34" charset="0"/>
                <a:ea typeface="Calibri" panose="020F0502020204030204" pitchFamily="34" charset="0"/>
              </a:rPr>
              <a:t> па кључну реч </a:t>
            </a:r>
            <a:r>
              <a:rPr lang="sr-Cyrl-RS" altLang="en-US" b="1" i="1" dirty="0" err="1">
                <a:latin typeface="Arial" panose="020B0604020202020204" pitchFamily="34" charset="0"/>
                <a:ea typeface="Calibri" panose="020F0502020204030204" pitchFamily="34" charset="0"/>
              </a:rPr>
              <a:t>values</a:t>
            </a:r>
            <a:r>
              <a:rPr lang="sr-Cyrl-RS" altLang="en-US" b="1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sr-Cyrl-RS" altLang="en-US" dirty="0">
                <a:latin typeface="Arial" panose="020B0604020202020204" pitchFamily="34" charset="0"/>
                <a:ea typeface="Calibri" panose="020F0502020204030204" pitchFamily="34" charset="0"/>
              </a:rPr>
              <a:t>(вредности), а затим се задаје критеријум помоћу оператора поређења.</a:t>
            </a:r>
            <a:endParaRPr lang="sr-Cyrl-RS" altLang="en-US" sz="32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03190BCA-E3D8-4851-144E-C2A27DCC9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590" y="3429000"/>
            <a:ext cx="4813300" cy="82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45146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509</Words>
  <Application>Microsoft Office PowerPoint</Application>
  <PresentationFormat>Widescreen</PresentationFormat>
  <Paragraphs>61</Paragraphs>
  <Slides>13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Calisto MT</vt:lpstr>
      <vt:lpstr>Univers Condensed</vt:lpstr>
      <vt:lpstr>Wingdings</vt:lpstr>
      <vt:lpstr>ChronicleVTI</vt:lpstr>
      <vt:lpstr>Анализе појединачних серија података</vt:lpstr>
      <vt:lpstr>сложене структуре података у python-у</vt:lpstr>
      <vt:lpstr>Креирање различитих типова листе у јупитеру</vt:lpstr>
      <vt:lpstr>Примена функција за одређивање минимума, максимума, просека, збира и одређивање броја елемената листе</vt:lpstr>
      <vt:lpstr>Сортирање листе у опадајућем редоследу</vt:lpstr>
      <vt:lpstr>Funkcija count()</vt:lpstr>
      <vt:lpstr>Пример за вежбу</vt:lpstr>
      <vt:lpstr>Једнодимензионална серија података</vt:lpstr>
      <vt:lpstr>Статистичка анализа података</vt:lpstr>
      <vt:lpstr>Пример:</vt:lpstr>
      <vt:lpstr>PowerPoint Presentation</vt:lpstr>
      <vt:lpstr>Сортирање и филтрирање</vt:lpstr>
      <vt:lpstr>Филтрирање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Tamara Smiljanic</dc:creator>
  <cp:lastModifiedBy>Tamara Smiljanic</cp:lastModifiedBy>
  <cp:revision>4</cp:revision>
  <dcterms:created xsi:type="dcterms:W3CDTF">2026-03-22T14:24:48Z</dcterms:created>
  <dcterms:modified xsi:type="dcterms:W3CDTF">2026-03-22T18:42:41Z</dcterms:modified>
</cp:coreProperties>
</file>